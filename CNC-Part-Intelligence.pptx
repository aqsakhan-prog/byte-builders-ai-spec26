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Heebo" pitchFamily="2" charset="-79"/>
      <p:regular r:id="rId12"/>
    </p:embeddedFont>
    <p:embeddedFont>
      <p:font typeface="Heebo Bold" panose="020B0604020202020204" charset="-79"/>
      <p:regular r:id="rId13"/>
    </p:embeddedFont>
    <p:embeddedFont>
      <p:font typeface="Heebo Light" pitchFamily="2" charset="-79"/>
      <p:regular r:id="rId14"/>
    </p:embeddedFont>
    <p:embeddedFont>
      <p:font typeface="Heebo Medium" pitchFamily="2" charset="-79"/>
      <p:regular r:id="rId15"/>
    </p:embeddedFont>
    <p:embeddedFont>
      <p:font typeface="Heebo SemiBold" panose="020B0604020202020204" charset="-79"/>
      <p:regular r:id="rId16"/>
    </p:embeddedFont>
    <p:embeddedFont>
      <p:font typeface="Montserrat Medium" panose="00000600000000000000" pitchFamily="2" charset="0"/>
      <p:regular r:id="rId17"/>
    </p:embeddedFont>
    <p:embeddedFont>
      <p:font typeface="Montserrat SemiBold" panose="00000700000000000000" pitchFamily="2" charset="0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2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02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CNC Part Intelligence. Emphasize that our solution tackles the multi-modal reality of precision manufacturing by cross-referencing Excel tabular data, PDF engineering drawings, and IGES 3D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operational friction: manufacturing release packages contain tabular specs, 2D PDF prints, and CAD geometry. Manual cross-referencing creates risk, delays production, and lacks an audit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five-stage pipeline. Emphasize: “Achieved Level 3 with stretch-oriented support for uploaded jury files and different part numbers.”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the LLM is never given raw file dumps or asked to execute geometric math. Python does the parsing and numeric cross-checking; Gemini receives only structured facts and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exact extractors: openpyxl/pandas for Excel, PyMuPDF for PDF prints, and headless FreeCADCmd for CAD models. Every extracted field carries granular source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Part 2280: all three independent files align on 100 x 60 x 10 mm dimensions within the 0.10 mm threshold. Note our honest disclosure on volume reliability for open IGES 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practical utility: this is not an open-ended chatbot that hallucinates specs. It is an industrial verification tool built to save engineering hours and catch expensive manufacturing mistakes before chips 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0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611505"/>
            <a:ext cx="665463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SPEC’26 AI HACKATHON · NEDUET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83" y="921746"/>
            <a:ext cx="6095848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110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CNC Part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60383" y="1665049"/>
            <a:ext cx="6095848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Evidence-Grounded Analysis Across Excel, PDF and IGES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0383" y="2630984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6" name="Text 4"/>
          <p:cNvSpPr/>
          <p:nvPr/>
        </p:nvSpPr>
        <p:spPr>
          <a:xfrm>
            <a:off x="660383" y="5412204"/>
            <a:ext cx="665463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TEAM BYTE BUILDERS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383" y="5783659"/>
            <a:ext cx="6095848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Aqsa Wilayat Khan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— Team Leader</a:t>
            </a:r>
            <a:endParaRPr lang="en-US" sz="14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Faryal Khan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— Team Member</a:t>
            </a:r>
            <a:endParaRPr lang="en-US" sz="14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32070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017" y="3207048"/>
            <a:ext cx="4876678" cy="3650952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017" y="3334206"/>
            <a:ext cx="487667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Illustrative CNC component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705"/>
            <a:ext cx="792460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THE MANUFACTURING DATA SILO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605326"/>
            <a:ext cx="7416614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Manufacturing data lives in three places, and engineers must join it by hand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159198"/>
            <a:ext cx="7416614" cy="257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CNC manufacturing information is distributed across Excel manufacturing records, PDF engineering drawings, and IGES 3D models.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Engineers often inspect and combine these disconnected sources manually.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Manual review takes time, requires engineering expertise, makes traceability difficult, and may miss cross-file inconsistencies.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The challenge is to accept a part number and return a concise, evidence-based analysis.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358110"/>
            <a:ext cx="7416614" cy="12712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5550515"/>
            <a:ext cx="71753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CORE OBJECTIVE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879" y="5820434"/>
            <a:ext cx="6934027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-45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“Our goal: one part number, three sources, one traceable engineering answer.”</a:t>
            </a:r>
            <a:endParaRPr lang="en-US" sz="1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187" y="0"/>
            <a:ext cx="3657509" cy="31562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534187" y="3156248"/>
            <a:ext cx="3657509" cy="3701752"/>
          </a:xfrm>
          <a:prstGeom prst="rect">
            <a:avLst/>
          </a:prstGeom>
          <a:solidFill>
            <a:srgbClr val="18113D"/>
          </a:solidFill>
          <a:ln/>
        </p:spPr>
      </p:sp>
      <p:sp>
        <p:nvSpPr>
          <p:cNvPr id="10" name="Text 6"/>
          <p:cNvSpPr/>
          <p:nvPr/>
        </p:nvSpPr>
        <p:spPr>
          <a:xfrm>
            <a:off x="8534187" y="3334206"/>
            <a:ext cx="365750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Conceptual drafting representation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89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AUTOMATED CROSS-CHECKING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42752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One part number in, one cross-checked answer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19290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542256"/>
            <a:ext cx="246056" cy="25568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562100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277" y="1550702"/>
            <a:ext cx="65915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Retrieves matching Excel manufacturing record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28277" y="1895773"/>
            <a:ext cx="65915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Finds matching workbook row; extracts available material, quantity, process, dimensions, and manufacturing fields.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9585" y="2563713"/>
            <a:ext cx="246056" cy="25568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0" name="Text 8"/>
          <p:cNvSpPr/>
          <p:nvPr/>
        </p:nvSpPr>
        <p:spPr>
          <a:xfrm>
            <a:off x="609585" y="2583557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8277" y="2572159"/>
            <a:ext cx="65915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Extracts facts from the PDF drawing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28277" y="2917230"/>
            <a:ext cx="65915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Uses PyMuPDF to extract machine-readable page text and identify available material, revision, tolerance, process, dimensions, and hole information.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09585" y="3585170"/>
            <a:ext cx="246056" cy="25568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3605014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8277" y="3593616"/>
            <a:ext cx="65915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Analyzes IGES geometry with FreeCAD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28277" y="3938687"/>
            <a:ext cx="65915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Uses FreeCADCmd to extract bounding-box dimensions, surface area, reported volume, topology counts, and geometry reliability status.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9585" y="4606627"/>
            <a:ext cx="246056" cy="25568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18" name="Text 16"/>
          <p:cNvSpPr/>
          <p:nvPr/>
        </p:nvSpPr>
        <p:spPr>
          <a:xfrm>
            <a:off x="609585" y="4626471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28277" y="4615073"/>
            <a:ext cx="65915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Cross-checks dimensions across all three sources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28277" y="4960144"/>
            <a:ext cx="659153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Deterministic Python validation uses a 0.10 mm comparison tolerance and flags dimensional disagreements.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09585" y="5628084"/>
            <a:ext cx="246056" cy="255687"/>
          </a:xfrm>
          <a:prstGeom prst="rect">
            <a:avLst/>
          </a:prstGeom>
          <a:solidFill>
            <a:srgbClr val="FF76C8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5647928"/>
            <a:ext cx="8556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9857F9"/>
                </a:solidFill>
                <a:latin typeface="Heebo SemiBold" pitchFamily="34" charset="0"/>
                <a:ea typeface="Heebo SemiBold" pitchFamily="34" charset="-122"/>
                <a:cs typeface="Heebo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28277" y="5636530"/>
            <a:ext cx="6591532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Generates evidence-grounded answers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28277" y="5981601"/>
            <a:ext cx="659153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Google Gemini answers from extracted evidence, cites the supplied files, and refuses to invent missing information. A deterministic fallback handles common questions if the hosted LLM is unavailable.</a:t>
            </a:r>
            <a:endParaRPr lang="en-US" sz="14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6998" y="2768104"/>
            <a:ext cx="3505112" cy="191204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000801" y="3062109"/>
            <a:ext cx="226709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SOURCE STATUS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43691" y="3335901"/>
            <a:ext cx="2971726" cy="55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343691" y="4008596"/>
            <a:ext cx="297172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98" y="4680148"/>
            <a:ext cx="3505112" cy="84881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267493" y="4820007"/>
            <a:ext cx="3124122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Achieved Level 3 with stretch-oriented support for uploaded jury files and different part numbers.</a:t>
            </a:r>
            <a:endParaRPr lang="en-US" sz="11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673A5D-310C-31ED-639A-590FDE3B5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997" y="3209213"/>
            <a:ext cx="3505113" cy="1397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43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4529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The LLM sees extracted evidence, not unrestricted technical data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49102"/>
            <a:ext cx="10972526" cy="7100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331" y="1633557"/>
            <a:ext cx="108137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FILE INGESTION AND PART MATCHING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68331" y="1907350"/>
            <a:ext cx="1065503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-4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Part Number + Uploaded Files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2411512"/>
            <a:ext cx="3555911" cy="16096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31" y="2495967"/>
            <a:ext cx="342256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EXCEL →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2931" y="2800747"/>
            <a:ext cx="328921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pandas / openpyxl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Matching Manufacturing Record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Workbook, Worksheet and Row Citation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892" y="2411512"/>
            <a:ext cx="3555911" cy="16096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51239" y="2495967"/>
            <a:ext cx="342256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PDF →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451239" y="2800747"/>
            <a:ext cx="328921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PyMuPDF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Drawing Text and Engineering Facts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Filename and Page Citation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199" y="2411512"/>
            <a:ext cx="3555911" cy="16096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59546" y="2495967"/>
            <a:ext cx="342256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IGES →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159546" y="2800747"/>
            <a:ext cx="328921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FreeCADCmd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Bounding Box, Surface Area, Reported Volume and Reliability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IGES Filename Citation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173538"/>
            <a:ext cx="10972526" cy="4414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8331" y="4263200"/>
            <a:ext cx="1065503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-4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Structured Evidence → Deterministic Cross-Check Engine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767362"/>
            <a:ext cx="5410065" cy="7562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931" y="4851817"/>
            <a:ext cx="52767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ANSWER PATH 1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742931" y="5156597"/>
            <a:ext cx="52767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Google Gemini Grounded Q&amp;A</a:t>
            </a:r>
            <a:endParaRPr lang="en-US" sz="1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046" y="4767362"/>
            <a:ext cx="5410065" cy="75624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05392" y="4851817"/>
            <a:ext cx="52767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ANSWER PATH 2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305392" y="5156597"/>
            <a:ext cx="52767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Deterministic Offline Fallback if Gemini is unavailable</a:t>
            </a:r>
            <a:endParaRPr lang="en-US" sz="16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676007"/>
            <a:ext cx="10972526" cy="44142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68331" y="5765669"/>
            <a:ext cx="10655033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600" kern="100" spc="-4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→ Answer + File Citations + Conflict or Missing-Data Warnings</a:t>
            </a:r>
            <a:endParaRPr lang="en-US" sz="1600" dirty="0"/>
          </a:p>
        </p:txBody>
      </p:sp>
      <p:sp>
        <p:nvSpPr>
          <p:cNvPr id="26" name="Text 16"/>
          <p:cNvSpPr/>
          <p:nvPr/>
        </p:nvSpPr>
        <p:spPr>
          <a:xfrm>
            <a:off x="609585" y="6308090"/>
            <a:ext cx="10972526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Deterministic parsers convert supplied files into structured evidence. Python performs numerical validation; the LLM explains the extracted evidence in plain language.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99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MULTI-MODAL EXTRACTION &amp; CITATION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085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Each source gets its own extractor and its own citation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03160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380952"/>
            <a:ext cx="3454314" cy="36395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879" y="2624157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EXCEL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0879" y="2928938"/>
            <a:ext cx="2971726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Searches multiple worksheets, detects common part-number column names, retrieves the matching row, and cites the workbook, worksheet, and row.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2380952"/>
            <a:ext cx="3454314" cy="36395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09985" y="2624157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PDF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09985" y="2928938"/>
            <a:ext cx="2971726" cy="2417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Uses PyMuPDF to extract machine-readable page text and identify available material, revision, tolerance, process, dimensions, and hole information. Cites the filename and page. Image-only scanned PDFs may require OCR.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380952"/>
            <a:ext cx="3454314" cy="36395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9091" y="2624157"/>
            <a:ext cx="321302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IGES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369091" y="2928938"/>
            <a:ext cx="2971726" cy="2719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Runs FreeCADCmd in the background and extracts bounding-box dimensions, surface area, reported volume, topology counts, and reliability status. Warns when geometry is not recognized as a closed solid and cites the IGES filename.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09585" y="6211153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Technology stack: Python, Streamlit, pandas, openpyxl, xlrd, PyMuPDF, FreeCAD, python-dotenv, and Google Gemini API.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8341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Python checks the numbers; the LLM explains the evidence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585" y="1536422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GROUNDING PRINCIPLES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585" y="2034778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612727"/>
            <a:ext cx="3627049" cy="254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Deterministic numerical comparison: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Overall dimensions are compared in Python using a 0.10 mm tolerance.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Constrained LLM prompting: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The model answers only from evidence extracted from the supplied files. Supported factual answers are designed to include source citations.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41327" y="2612727"/>
            <a:ext cx="3627148" cy="3448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Refusal on missing information: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Missing facts produce: “I cannot find that information in the supplied files.” Conflicts are displayed rather than hidden.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Deterministic offline fallback: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If Gemini is overloaded or unavailable, a citation-based deterministic fallback handles common questions instead of allowing the application to crash or fabricate information.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168" y="2384127"/>
            <a:ext cx="3108942" cy="41690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01763" y="4148943"/>
            <a:ext cx="2651753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3314D6-8351-E2E3-2687-056CC9FBC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168" y="3429000"/>
            <a:ext cx="3108943" cy="2297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3046"/>
            <a:ext cx="11632909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7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LIVE DEMO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98025"/>
            <a:ext cx="11074123" cy="833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100" kern="100" spc="-77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Live demo: Part 2280 — Excel, PDF and IGES agree on overall dimensions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58786" y="1800423"/>
            <a:ext cx="3654334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112169"/>
            <a:ext cx="5025701" cy="41391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4681" y="2303915"/>
            <a:ext cx="4809806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7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PART 2280 · CNC MOUNTING PLATE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4681" y="2571651"/>
            <a:ext cx="4593912" cy="112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Material: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Aluminium 6061-T6 (ASTM B209)</a:t>
            </a:r>
            <a:endParaRPr lang="en-US" sz="13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Dimensions: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100 × 60 × 10 mm (±0.10 mm)</a:t>
            </a:r>
            <a:endParaRPr lang="en-US" sz="13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Holes: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4× Ø8 mm through, 1× Ø20 mm center</a:t>
            </a:r>
            <a:endParaRPr lang="en-US" sz="13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Process: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CNC milling &amp; drilling (Ra 3.2 µm)</a:t>
            </a:r>
            <a:endParaRPr lang="en-US" sz="13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Qty / Rev: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25 units | Revision 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4681" y="3794677"/>
            <a:ext cx="4809806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7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IGES CAD EXTRACTION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4681" y="4062413"/>
            <a:ext cx="4593912" cy="448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Bounds: 100 × 60 × 10 mm | Area: 15,803.186 mm²</a:t>
            </a:r>
            <a:endParaRPr lang="en-US" sz="130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Volume: 54,847.788 mm³ (surface-shell notice)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9180" y="2112169"/>
            <a:ext cx="5743729" cy="30860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05075" y="2278515"/>
            <a:ext cx="5527834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7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CROSS-CHECK MATRIX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056863"/>
              </p:ext>
            </p:extLst>
          </p:nvPr>
        </p:nvGraphicFramePr>
        <p:xfrm>
          <a:off x="6095847" y="2444905"/>
          <a:ext cx="5311940" cy="2690176"/>
        </p:xfrm>
        <a:graphic>
          <a:graphicData uri="http://schemas.openxmlformats.org/drawingml/2006/table">
            <a:tbl>
              <a:tblPr/>
              <a:tblGrid>
                <a:gridCol w="2390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Comparison Pair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charset="0"/>
                          <a:cs typeface="Heebo" pitchFamily="34" charset="0"/>
                        </a:rPr>
                        <a:t>Comparison threshold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F2F0F4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Status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Excel vs PDF Dimensions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±0.10 mm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9857F9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MATCH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Excel vs IGES Bounding Box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±0.10 mm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9857F9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MATCH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PDF vs IGES Dimensions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DCD7E5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±0.10 mm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50" dirty="0">
                          <a:solidFill>
                            <a:srgbClr val="9857F9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0"/>
                        </a:rPr>
                        <a:t>MATCH</a:t>
                      </a:r>
                      <a:endParaRPr lang="en-US" sz="15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7386" marR="147386" marT="78606" marB="7860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6105075" y="3127513"/>
            <a:ext cx="5311940" cy="6350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14" name="Shape 9"/>
          <p:cNvSpPr/>
          <p:nvPr/>
        </p:nvSpPr>
        <p:spPr>
          <a:xfrm>
            <a:off x="6105075" y="3655092"/>
            <a:ext cx="5311940" cy="6350"/>
          </a:xfrm>
          <a:prstGeom prst="rect">
            <a:avLst/>
          </a:prstGeom>
          <a:solidFill>
            <a:srgbClr val="3B315E"/>
          </a:solidFill>
          <a:ln/>
        </p:spPr>
      </p:sp>
      <p:sp>
        <p:nvSpPr>
          <p:cNvPr id="15" name="Shape 10"/>
          <p:cNvSpPr/>
          <p:nvPr/>
        </p:nvSpPr>
        <p:spPr>
          <a:xfrm>
            <a:off x="6105075" y="4344050"/>
            <a:ext cx="5311940" cy="6350"/>
          </a:xfrm>
          <a:prstGeom prst="rect">
            <a:avLst/>
          </a:prstGeom>
          <a:solidFill>
            <a:srgbClr val="3B315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180" y="5350570"/>
            <a:ext cx="5743729" cy="9007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9675" y="5464870"/>
            <a:ext cx="5362738" cy="672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Dataset Disclosure: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Team-created demonstration dataset, prepared because participants were instructed to source or create their own reference files.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705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ENGINEERING VALUE AND ROBUSTNESS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605326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Traceable engineering validation, not a generic chatbot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828403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3B315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177752"/>
            <a:ext cx="3799785" cy="43754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2386858"/>
            <a:ext cx="339339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Innovation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12780" y="2947789"/>
            <a:ext cx="3393395" cy="3324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Combines tabular, drawing, and 3D CAD evidence in one workflow, and deterministic engineering validation with LLM explanation; provides file-level traceability instead of unsupported generic chatbot responses; automatically attempts multiple available Gemini models when one is temporarily unavailable; includes deterministic offline fallback for robustness.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063" y="2177752"/>
            <a:ext cx="3108942" cy="43754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17257" y="2386858"/>
            <a:ext cx="270255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Practical value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917257" y="2947789"/>
            <a:ext cx="2702552" cy="3324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Reduces manual file searching; helps identify dimensional disagreements; supports faster manufacturing-file review; accepts jury-supplied Excel, PDF, and IGES files; potential applications include quality review, quotation preparation, and design verification.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2177752"/>
            <a:ext cx="3454314" cy="43754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70351" y="2382857"/>
            <a:ext cx="217869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B6ACCB"/>
                </a:solidFill>
                <a:latin typeface="Heebo Medium" pitchFamily="34" charset="0"/>
                <a:ea typeface="Heebo Medium" pitchFamily="34" charset="-122"/>
                <a:cs typeface="Heebo Medium" pitchFamily="34" charset="0"/>
              </a:rPr>
              <a:t>JURY INTERACTION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436359" y="2657983"/>
            <a:ext cx="3047924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9123134" y="6160353"/>
            <a:ext cx="207312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Three upload controls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679F73-7C86-1F57-412A-CCF55F961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7" y="2565717"/>
            <a:ext cx="3454314" cy="39855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83489"/>
            <a:ext cx="11277318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75" dirty="0">
                <a:solidFill>
                  <a:srgbClr val="F2F0F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0"/>
              </a:rPr>
              <a:t>Known limits are clear, and the roadmap addresses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189" y="876451"/>
            <a:ext cx="548626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IDENTIFIED LIMITATIONS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189" y="1437382"/>
            <a:ext cx="5486263" cy="373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Image-only scanned PDFs may require OCR; unusual Excel layouts may require manual field mapping; drawing terminology varies across organizations.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Some IGES files import as surfaces instead of closed solids; volume may be unreliable when a closed solid is not detected; bounding-box dimensions depend on model coordinate orientation.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Gemini requires internet and API availability, although a deterministic fallback is included; the configured FreeCAD executable path is currently Windows-specific; the application does not claim compatibility with every possible engineering-file structure.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248244" y="876451"/>
            <a:ext cx="5486263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DCD7E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0"/>
              </a:rPr>
              <a:t>FUTURE 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48244" y="1437382"/>
            <a:ext cx="5486263" cy="24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OCR for scanned engineering drawings; automatic unit detection and conversion; flexible Excel and drawing schema mapping; browser-based 3D model visualization; expanded geometric feature recognition.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Drawing-to-model feature-level comparison; batch processing; downloadable engineering reports; local LLM deployment for fully offline operation; automatic FreeCAD path detection.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189" y="5362476"/>
            <a:ext cx="1127731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0"/>
              </a:rPr>
              <a:t>Conclusion:</a:t>
            </a: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0"/>
              </a:rPr>
              <a:t> CNC Part Intelligence converts scattered manufacturing files into concise, traceable, and honest engineering answers.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396" y="6122055"/>
            <a:ext cx="1188690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A0BC"/>
                </a:solidFill>
                <a:latin typeface="Heebo" pitchFamily="34" charset="0"/>
                <a:ea typeface="Heebo" pitchFamily="34" charset="-122"/>
                <a:cs typeface="Heebo" pitchFamily="34" charset="0"/>
              </a:rPr>
              <a:t>Thank You — Questions? · Team Byte Builders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1357</Words>
  <Application>Microsoft Office PowerPoint</Application>
  <PresentationFormat>Widescreen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Heebo Medium</vt:lpstr>
      <vt:lpstr>Montserrat Medium</vt:lpstr>
      <vt:lpstr>Heebo Light</vt:lpstr>
      <vt:lpstr>Montserrat SemiBold</vt:lpstr>
      <vt:lpstr>Heebo</vt:lpstr>
      <vt:lpstr>Heebo Bold</vt:lpstr>
      <vt:lpstr>Heebo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lastModifiedBy>Administrator</cp:lastModifiedBy>
  <cp:revision>4</cp:revision>
  <dcterms:created xsi:type="dcterms:W3CDTF">2026-10-26T18:23:27Z</dcterms:created>
  <dcterms:modified xsi:type="dcterms:W3CDTF">2026-10-26T19:38:09Z</dcterms:modified>
</cp:coreProperties>
</file>